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6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Midnight MCP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ハンズオンマニュアル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24688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CCCCC"/>
                </a:solidFill>
              </a:rPr>
              <a:t>Claude Code × Midnight でプライバシーコントラクトを作る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32918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</a:rPr>
              <a:t>対象: 開発者・ビジネス受講者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</a:rPr>
              <a:t>所要時間: 約60〜90分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66FF"/>
                </a:solidFill>
              </a:rPr>
              <a:t>SIPO | Midnight Ambassador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このワークショップで学ぶこと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457200" cy="45720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88720" y="137160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CCCCC"/>
                </a:solidFill>
              </a:rPr>
              <a:t>Claude Code に Midnight MCP を接続し、29種類のツールを使う方法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457200" cy="45720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103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88720" y="210312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CCCCC"/>
                </a:solidFill>
              </a:rPr>
              <a:t>自然言語プロンプトからプライバシーコントラクトを生成する方法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2834640"/>
            <a:ext cx="457200" cy="45720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834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88720" y="283464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CCCCC"/>
                </a:solidFill>
              </a:rPr>
              <a:t>MCP経由でコンパイル・エラー自動修正する方法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3566160"/>
            <a:ext cx="457200" cy="45720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88720" y="356616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CCCCC"/>
                </a:solidFill>
              </a:rPr>
              <a:t>Midnight Preprodテストネットにデプロイする方法（オプション）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1: 環境準備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66FF"/>
                </a:solidFill>
              </a:rPr>
              <a:t>必要ツール チェックリスト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8046720" cy="41148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4630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ツール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017520" y="14630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要件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760720" y="14630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確認コマンド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1874520"/>
            <a:ext cx="8046720" cy="45720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8745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Node.js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017520" y="18745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</a:rPr>
              <a:t>v22以上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760720" y="18745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6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 -v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331720"/>
            <a:ext cx="8046720" cy="4572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3317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Claude Code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017520" y="23317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</a:rPr>
              <a:t>最新版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760720" y="23317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6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 --version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2788920"/>
            <a:ext cx="8046720" cy="45720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27889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Compact CLI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017520" y="2788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</a:rPr>
              <a:t>v0.5.1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760720" y="2788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6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compact --version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3246120"/>
            <a:ext cx="8046720" cy="4572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2461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Docker Desktop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017520" y="32461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</a:rPr>
              <a:t>最新版（デプロイ時のみ）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760720" y="32461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6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--version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1: インストール手順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6FF"/>
                </a:solidFill>
              </a:rPr>
              <a:t>Node.js 22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3657600" cy="64008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6459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brew install node@22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 -v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377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6FF"/>
                </a:solidFill>
              </a:rPr>
              <a:t>Compact CLI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743200"/>
            <a:ext cx="3657600" cy="128016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83464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curl --proto '=https' --tlsv1.2 -LsSf \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https://github.com/midnightntwrk/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compact/releases/latest/download/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compact-installer.sh | sh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compact --version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54880" y="11887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6FF"/>
                </a:solidFill>
              </a:rPr>
              <a:t>Docker Desktop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754880" y="155448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</a:rPr>
              <a:t>公式サイトからダウンロード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</a:rPr>
              <a:t>https://docker.com/products/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</a:rPr>
              <a:t>docker-desktop/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</a:rPr>
              <a:t>Apple Silicon Mac用を選択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54880" y="28346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6FF"/>
                </a:solidFill>
              </a:rPr>
              <a:t>Claude Code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754880" y="320040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</a:rPr>
              <a:t>公式サイトからダウンロード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</a:rPr>
              <a:t>https://claude.ai/code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43891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88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環境チェック: bash setup/setup-check.sh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2: MCPセットアップ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66FF"/>
                </a:solidFill>
              </a:rPr>
              <a:t>Midnight MCP とは？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CCCCC"/>
                </a:solidFill>
              </a:rPr>
              <a:t>Midnight MCP（Model Context Protocol）は、Claude Code が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CCCCC"/>
                </a:solidFill>
              </a:rPr>
              <a:t>Midnightブロックチェーンのツール群を直接呼び出すための拡張インターフェース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接続後に使えるツールは 29種類</a:t>
            </a:r>
            <a:endParaRPr lang="en-US" sz="15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066FF"/>
                </a:solidFill>
              </a:rPr>
              <a:t>APIキーは不要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30175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.mcp.json をプロジェクトルートに作成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383280"/>
            <a:ext cx="4572000" cy="146304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3474720"/>
            <a:ext cx="4297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"mcpServers":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"midnight": 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"command": "npx",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"args": ["-y", "midnight-mcp@latest"]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0" y="338328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66FF"/>
                </a:solidFill>
              </a:rPr>
              <a:t>たった3行の設定で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0066FF"/>
                </a:solidFill>
              </a:rPr>
              <a:t>60秒セットアップ完了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2: MCP接続確認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6FF"/>
                </a:solidFill>
              </a:rPr>
              <a:t>Step 1: Claude Codeを起動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4572000" cy="54864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64592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midnight-workshop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6FF"/>
                </a:solidFill>
              </a:rPr>
              <a:t>Step 2: MCP接続を確認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651760"/>
            <a:ext cx="6400800" cy="45720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743200"/>
            <a:ext cx="6126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利用可能なMCPツールをリストアップしてください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32918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Step 3: 29個のmidnight-ツールが表示されればOK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3749040"/>
            <a:ext cx="8046720" cy="91440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84048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接続できない場合の確認ポイント: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・.mcp.json がプロジェクトルートに存在するか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・Node.js v22以上か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・Claude Codeを .mcp.json と同じフォルダで起動しているか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3: コントラクト生成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66FF"/>
                </a:solidFill>
              </a:rPr>
              <a:t>プライバシーコントラクトとは？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3657600" cy="137160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463040"/>
            <a:ext cx="3108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CCCCC"/>
                </a:solidFill>
              </a:rPr>
              <a:t>従来のブロックチェーン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</a:rPr>
              <a:t>すべての取引情報が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</a:rPr>
              <a:t>チェーン上に公開される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</a:rPr>
              <a:t>（送金額・送金先）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1371600"/>
            <a:ext cx="3840480" cy="137160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0" y="1463040"/>
            <a:ext cx="3291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Midnightコントラクト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金額・残高実値・saltを秘匿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送信者・受取人の公開鍵は公開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30175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生成プロンプト: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383280"/>
            <a:ext cx="8046720" cy="64008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34747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金額と残高実値を非公開にし、両者の公開鍵を公開する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残高更新コントラクトを作成してください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42062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66FF"/>
                </a:solidFill>
              </a:rPr>
              <a:t>→ MCPが自動で構文取得 → サンプル参照 → コード生成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3: 生成されるコントラクトの構造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2560320" cy="320040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188720"/>
            <a:ext cx="2560320" cy="4572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2801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6FF"/>
                </a:solidFill>
              </a:rPr>
              <a:t>ledger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15544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チェーン上に保存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20116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balance_commitments: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Map&lt;Bytes&lt;32&gt;,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Bytes&lt;32&gt;&gt;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9260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残高のハッシュ値のみ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実際の金額は非公開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91840" y="1188720"/>
            <a:ext cx="2560320" cy="320040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1" name="Shape 9"/>
          <p:cNvSpPr/>
          <p:nvPr/>
        </p:nvSpPr>
        <p:spPr>
          <a:xfrm>
            <a:off x="3291840" y="1188720"/>
            <a:ext cx="2560320" cy="45720"/>
          </a:xfrm>
          <a:prstGeom prst="rect">
            <a:avLst/>
          </a:prstGeom>
          <a:solidFill>
            <a:srgbClr val="FF4444"/>
          </a:solidFill>
          <a:ln/>
        </p:spPr>
      </p:sp>
      <p:sp>
        <p:nvSpPr>
          <p:cNvPr id="12" name="Text 10"/>
          <p:cNvSpPr/>
          <p:nvPr/>
        </p:nvSpPr>
        <p:spPr>
          <a:xfrm>
            <a:off x="3474720" y="12801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4444"/>
                </a:solidFill>
              </a:rPr>
              <a:t>witness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474720" y="15544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ローカルのみ・非公開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74720" y="20116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local_secret_key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private_amount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private_recipient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0" y="29260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秘密鍵・送金額・saltは秘匿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受取人公開鍵は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disclose()で公開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035040" y="1188720"/>
            <a:ext cx="2560320" cy="320040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7" name="Shape 15"/>
          <p:cNvSpPr/>
          <p:nvPr/>
        </p:nvSpPr>
        <p:spPr>
          <a:xfrm>
            <a:off x="6035040" y="1188720"/>
            <a:ext cx="2560320" cy="45720"/>
          </a:xfrm>
          <a:prstGeom prst="rect">
            <a:avLst/>
          </a:prstGeom>
          <a:solidFill>
            <a:srgbClr val="44FF44"/>
          </a:solidFill>
          <a:ln/>
        </p:spPr>
      </p:sp>
      <p:sp>
        <p:nvSpPr>
          <p:cNvPr id="18" name="Text 16"/>
          <p:cNvSpPr/>
          <p:nvPr/>
        </p:nvSpPr>
        <p:spPr>
          <a:xfrm>
            <a:off x="6217920" y="12801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4FF44"/>
                </a:solidFill>
              </a:rPr>
              <a:t>circuit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217920" y="15544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処理ロジック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17920" y="1920240"/>
            <a:ext cx="2194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deposit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 → 公開額で残高更新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private_transfer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 → 金額秘匿・公開鍵公開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check_balance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 → 残高を公開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4: MCPコンパイル＆レビュー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6FF"/>
                </a:solidFill>
              </a:rPr>
              <a:t>コンパイルの仕組み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15544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CCCC"/>
                </a:solidFill>
              </a:rPr>
              <a:t>Claude Code → MCP → Midnight ホストコンパイラ → 結果を返す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0116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コンパイル実行プロンプト: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377440"/>
            <a:ext cx="7315200" cy="45720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468880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先ほど生成したコントラクトをコンパイルしてください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30175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6FF"/>
                </a:solidFill>
              </a:rPr>
              <a:t>エラーが出てもMCPが自動修正！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3474720"/>
            <a:ext cx="8046720" cy="137160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566160"/>
            <a:ext cx="7498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よくあるエラーと自動修正: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1. disclose()の欠落 → ZKP証明出力にdisclose()を自動追加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2. 型の不一致 → as_bytes()による型変換を追加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3. witnessアクセスの誤り → circuit内に参照を移動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5: テストネットデプロイ（オプション）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6FF"/>
                </a:solidFill>
              </a:rPr>
              <a:t>Step 1: プロジェクト作成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3657600" cy="54864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6459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npx create-mn-app my-app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Contract → Hello World を選択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6FF"/>
                </a:solidFill>
              </a:rPr>
              <a:t>Step 2: ワンコマンドデプロイ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651760"/>
            <a:ext cx="3657600" cy="54864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27432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my-app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setup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54880" y="11887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6FF"/>
                </a:solidFill>
              </a:rPr>
              <a:t>Step 3: Faucetでトークン取得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54880" y="155448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</a:rPr>
              <a:t>https://faucet.preprod.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</a:rPr>
              <a:t>midnight.network/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</a:rPr>
              <a:t>ウォレットアドレスを入力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</a:rPr>
              <a:t>→ tNightトークンを受領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54880" y="28346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6FF"/>
                </a:solidFill>
              </a:rPr>
              <a:t>Step 4: エクスプローラーで確認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54880" y="320040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</a:rPr>
              <a:t>https://preprod.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</a:rPr>
              <a:t>midnightexplorer.com/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</a:rPr>
              <a:t>送金額が「非公開」に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CCCCC"/>
                </a:solidFill>
              </a:rPr>
              <a:t>なっていることを確認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43891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88888"/>
                </a:solidFill>
              </a:rPr>
              <a:t>npm run setup が自動で: Proof Server起動 → コンパイル → デプロイ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トラブルシューティング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3657600" cy="36576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2801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症状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206240" y="1280160"/>
            <a:ext cx="4389120" cy="36576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7" name="Text 5"/>
          <p:cNvSpPr/>
          <p:nvPr/>
        </p:nvSpPr>
        <p:spPr>
          <a:xfrm>
            <a:off x="4389120" y="12801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対処法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1645920"/>
            <a:ext cx="3657600" cy="64008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6459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MCP接続できない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206240" y="1645920"/>
            <a:ext cx="4389120" cy="64008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1" name="Text 9"/>
          <p:cNvSpPr/>
          <p:nvPr/>
        </p:nvSpPr>
        <p:spPr>
          <a:xfrm>
            <a:off x="4389120" y="164592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.mcp.json の存在確認 / Node.js v22+ / 同フォルダで起動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286000"/>
            <a:ext cx="3657600" cy="64008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28600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コンパイル失敗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206240" y="2286000"/>
            <a:ext cx="4389120" cy="64008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5" name="Text 13"/>
          <p:cNvSpPr/>
          <p:nvPr/>
        </p:nvSpPr>
        <p:spPr>
          <a:xfrm>
            <a:off x="4389120" y="228600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compact --version 確認 / disclose()エラー → Part 4参照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2926080"/>
            <a:ext cx="3657600" cy="64008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29260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Docker起動しない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206240" y="2926080"/>
            <a:ext cx="4389120" cy="64008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9" name="Text 17"/>
          <p:cNvSpPr/>
          <p:nvPr/>
        </p:nvSpPr>
        <p:spPr>
          <a:xfrm>
            <a:off x="4389120" y="292608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Docker Desktopアプリ起動確認 / メモリ4GB以上推奨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566160"/>
            <a:ext cx="3657600" cy="64008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5661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Preprod接続不可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206240" y="3566160"/>
            <a:ext cx="4389120" cy="64008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3" name="Text 21"/>
          <p:cNvSpPr/>
          <p:nvPr/>
        </p:nvSpPr>
        <p:spPr>
          <a:xfrm>
            <a:off x="4389120" y="3566160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CCCC"/>
                </a:solidFill>
              </a:rPr>
              <a:t>ネットワーク状態確認 / 時間を置いてリトライ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主要リソース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54864" cy="36576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280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Midnight 公式ドキュメント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0" y="12801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6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docs.midnight.network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54864" cy="36576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828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Midnight MCP GitHub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0" y="18288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6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github.com/Olanetsoft/midnight-mcp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377440"/>
            <a:ext cx="54864" cy="36576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377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Compact 言語リファレンス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572000" y="23774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6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docs.midnight.network/compact/reference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2926080"/>
            <a:ext cx="54864" cy="36576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2926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インストールガイド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000" y="29260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6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docs.midnight.network/getting-started/installation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474720"/>
            <a:ext cx="54864" cy="36576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474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Preprod Faucet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572000" y="34747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6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faucet.preprod.midnight.network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4023360"/>
            <a:ext cx="54864" cy="365760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4023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Preprod エクスプローラー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572000" y="40233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6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preprod.midnightexplorer.com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振り返りチェックリスト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65760" cy="365760"/>
          </a:xfrm>
          <a:prstGeom prst="rect">
            <a:avLst/>
          </a:prstGeom>
          <a:solidFill>
            <a:srgbClr val="16213E"/>
          </a:solidFill>
          <a:ln w="25400">
            <a:solidFill>
              <a:srgbClr val="0066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7280" y="137160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CCCCC"/>
                </a:solidFill>
              </a:rPr>
              <a:t>.mcp.json を設置して Claude Code から Midnight MCP に接続できた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011680"/>
            <a:ext cx="365760" cy="365760"/>
          </a:xfrm>
          <a:prstGeom prst="rect">
            <a:avLst/>
          </a:prstGeom>
          <a:solidFill>
            <a:srgbClr val="16213E"/>
          </a:solidFill>
          <a:ln w="25400">
            <a:solidFill>
              <a:srgbClr val="0066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201168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CCCCC"/>
                </a:solidFill>
              </a:rPr>
              <a:t>自然言語プロンプトで Compact コントラクトが生成できた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2651760"/>
            <a:ext cx="365760" cy="365760"/>
          </a:xfrm>
          <a:prstGeom prst="rect">
            <a:avLst/>
          </a:prstGeom>
          <a:solidFill>
            <a:srgbClr val="16213E"/>
          </a:solidFill>
          <a:ln w="25400">
            <a:solidFill>
              <a:srgbClr val="0066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265176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CCCCC"/>
                </a:solidFill>
              </a:rPr>
              <a:t>ledger / witness / circuit の役割の違いを説明できる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3291840"/>
            <a:ext cx="365760" cy="365760"/>
          </a:xfrm>
          <a:prstGeom prst="rect">
            <a:avLst/>
          </a:prstGeom>
          <a:solidFill>
            <a:srgbClr val="16213E"/>
          </a:solidFill>
          <a:ln w="25400">
            <a:solidFill>
              <a:srgbClr val="0066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329184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CCCCC"/>
                </a:solidFill>
              </a:rPr>
              <a:t>MCP 経由でコンパイルを実行し、エラーを自動修正できた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3931920"/>
            <a:ext cx="365760" cy="365760"/>
          </a:xfrm>
          <a:prstGeom prst="rect">
            <a:avLst/>
          </a:prstGeom>
          <a:solidFill>
            <a:srgbClr val="16213E"/>
          </a:solidFill>
          <a:ln w="25400">
            <a:solidFill>
              <a:srgbClr val="0066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393192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CCCCC"/>
                </a:solidFill>
              </a:rPr>
              <a:t>（オプション）Preprod テストネットにデプロイできた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8640" y="45720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66FF"/>
                </a:solidFill>
              </a:rPr>
              <a:t>すべてチェックできたらワークショップ修了です！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66F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Midnight MCP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ハンズオンマニュアル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2194560"/>
            <a:ext cx="5486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66FF"/>
                </a:solidFill>
              </a:rPr>
              <a:t>midnight.network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0066FF"/>
                </a:solidFill>
              </a:rPr>
              <a:t>@midnight_jpn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600" dirty="0">
                <a:solidFill>
                  <a:srgbClr val="CCCCCC"/>
                </a:solidFill>
              </a:rPr>
              <a:t>SIPO | Midnight Ambassador</a:t>
            </a:r>
            <a:endParaRPr lang="en-US" sz="1800" dirty="0"/>
          </a:p>
          <a:p>
            <a:pPr indent="0" marL="0">
              <a:buNone/>
            </a:pPr>
            <a:r>
              <a:rPr lang="en-US" sz="1600" dirty="0">
                <a:solidFill>
                  <a:srgbClr val="0066FF"/>
                </a:solidFill>
              </a:rPr>
              <a:t>sipo.tokyo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4206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CCCCC"/>
                </a:solidFill>
              </a:rPr>
              <a:t>ご質問はお気軽にどうぞ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Midnight MCP ハンズオンマニュアル</dc:title>
  <dc:subject>PptxGenJS Presentation</dc:subject>
  <dc:creator>SIPO / 田平茂樹</dc:creator>
  <cp:lastModifiedBy>SIPO / 田平茂樹</cp:lastModifiedBy>
  <cp:revision>1</cp:revision>
  <dcterms:created xsi:type="dcterms:W3CDTF">2026-08-10T01:59:42Z</dcterms:created>
  <dcterms:modified xsi:type="dcterms:W3CDTF">2026-08-10T01:59:42Z</dcterms:modified>
</cp:coreProperties>
</file>